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3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84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076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4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0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49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69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63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52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562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93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20E61DA5-14B1-4779-BA75-7F4F45DE68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1648E3E-87C5-4B72-971E-977EFF6B42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90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geo/" TargetMode="External"/><Relationship Id="rId2" Type="http://schemas.openxmlformats.org/officeDocument/2006/relationships/hyperlink" Target="https://www.ncbi.nlm.nih.gov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68A324-9D05-3470-290B-F14424028564}"/>
              </a:ext>
            </a:extLst>
          </p:cNvPr>
          <p:cNvSpPr txBox="1"/>
          <p:nvPr/>
        </p:nvSpPr>
        <p:spPr>
          <a:xfrm>
            <a:off x="717754" y="611991"/>
            <a:ext cx="108941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Graph Convolutional Neural Network (GCNN) Modelling for Hub-Gene identification in Alzheimer’s Disease Using Integrated Co-expression and Protein-Protein Interaction(PPI) analysis with Cross-Dataset Validation</a:t>
            </a:r>
            <a:r>
              <a:rPr lang="en-IN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IN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F2D0D-AD38-0995-977C-8D3F0FD3CC93}"/>
              </a:ext>
            </a:extLst>
          </p:cNvPr>
          <p:cNvSpPr txBox="1"/>
          <p:nvPr/>
        </p:nvSpPr>
        <p:spPr>
          <a:xfrm>
            <a:off x="4195860" y="1870697"/>
            <a:ext cx="6096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FALGUNI YADAV (UG/02/BTCSE/2022/012)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RUCHI SINGH (UG/02/BTCSE/2022/054)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None/>
            </a:pPr>
            <a:r>
              <a:rPr lang="en-IN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CHAITI BAIN (UG/02/BTCSE/2022/055)</a:t>
            </a: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1002F-6D9B-64F7-ED62-9308A586C316}"/>
              </a:ext>
            </a:extLst>
          </p:cNvPr>
          <p:cNvSpPr txBox="1"/>
          <p:nvPr/>
        </p:nvSpPr>
        <p:spPr>
          <a:xfrm>
            <a:off x="4218040" y="406860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77562-45FE-F0E4-0685-28A78DA68A2C}"/>
              </a:ext>
            </a:extLst>
          </p:cNvPr>
          <p:cNvSpPr txBox="1"/>
          <p:nvPr/>
        </p:nvSpPr>
        <p:spPr>
          <a:xfrm>
            <a:off x="3655084" y="4609811"/>
            <a:ext cx="631231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Mr. Arup Mallick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Assistant Professor </a:t>
            </a:r>
          </a:p>
          <a:p>
            <a:pPr rtl="0">
              <a:buNone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rtl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Adamas University</a:t>
            </a:r>
            <a:endParaRPr lang="en-IN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B8EA0-AA1F-FD63-55A2-F611E8E92C4E}"/>
              </a:ext>
            </a:extLst>
          </p:cNvPr>
          <p:cNvSpPr txBox="1"/>
          <p:nvPr/>
        </p:nvSpPr>
        <p:spPr>
          <a:xfrm>
            <a:off x="2603033" y="17109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highlight>
                  <a:srgbClr val="808080"/>
                </a:highlight>
                <a:latin typeface="Arial Rounded MT Bold" panose="020F0704030504030204" pitchFamily="34" charset="0"/>
              </a:rPr>
              <a:t>Presented by</a:t>
            </a:r>
          </a:p>
        </p:txBody>
      </p:sp>
      <p:pic>
        <p:nvPicPr>
          <p:cNvPr id="10" name="Picture 2" descr="Adamas University Admission 2024 - 2025, Fees, Courses, Placements ...">
            <a:extLst>
              <a:ext uri="{FF2B5EF4-FFF2-40B4-BE49-F238E27FC236}">
                <a16:creationId xmlns:a16="http://schemas.microsoft.com/office/drawing/2014/main" id="{28E1D77A-6944-64D5-22C0-51771E87C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795" y="3000629"/>
            <a:ext cx="1602658" cy="141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958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29D772-B390-33EF-AC2B-470F0F8AD85E}"/>
              </a:ext>
            </a:extLst>
          </p:cNvPr>
          <p:cNvSpPr txBox="1"/>
          <p:nvPr/>
        </p:nvSpPr>
        <p:spPr>
          <a:xfrm>
            <a:off x="3136489" y="28976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E22825-6D09-012A-B8AC-866941956E0F}"/>
              </a:ext>
            </a:extLst>
          </p:cNvPr>
          <p:cNvSpPr txBox="1"/>
          <p:nvPr/>
        </p:nvSpPr>
        <p:spPr>
          <a:xfrm>
            <a:off x="353960" y="983632"/>
            <a:ext cx="11720053" cy="5584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Reliable Hub Gene Identification in Alzheimer’s Disease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gene analysis methods often fail to consistently identify important hub genes associated with Alzheimer’s disease.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Capturing Complex Gene Interactions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 disease involves multiple interacting genes and biological pathways that traditional analytical approaches cannot effectively model.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Conventional Gene Expression Analysis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cannot capture complex relationships within gene co-expression and protein–protein interaction networks.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Advanced Computational Approaches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models such as Graph Convolutional Neural Networks (GCNN) are required to analyze gene networks and identify key hub genes more accurately.</a:t>
            </a:r>
          </a:p>
        </p:txBody>
      </p:sp>
    </p:spTree>
    <p:extLst>
      <p:ext uri="{BB962C8B-B14F-4D97-AF65-F5344CB8AC3E}">
        <p14:creationId xmlns:p14="http://schemas.microsoft.com/office/powerpoint/2010/main" val="427283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8B8565-F385-EAEE-B946-A395233DCBF2}"/>
              </a:ext>
            </a:extLst>
          </p:cNvPr>
          <p:cNvSpPr txBox="1"/>
          <p:nvPr/>
        </p:nvSpPr>
        <p:spPr>
          <a:xfrm>
            <a:off x="4100053" y="24795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EB40E-4779-89ED-FC52-5C6DC5FBF55E}"/>
              </a:ext>
            </a:extLst>
          </p:cNvPr>
          <p:cNvSpPr txBox="1"/>
          <p:nvPr/>
        </p:nvSpPr>
        <p:spPr>
          <a:xfrm>
            <a:off x="462116" y="955840"/>
            <a:ext cx="1146441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Alzheimer’s Disease Gene Expression Data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Alzheimer’s disease gene expression datasets obtained from the GEO database.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Differentially Expressed Genes (DEGs)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genes that show significant differences in expression between Alzheimer’s disease and control samples.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Gene Interaction Networks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gene interaction networks by integrating co-expression relationships and protein–protein interaction (PPI) data.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Graph Convolutional Neural Network (GCNN)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a GCNN model for analyzing the gene interaction network and learning complex relationships among genes.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Key Hub Genes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highly influential hub genes that may play an important role in the development and progression of Alzheimer’s disease.</a:t>
            </a:r>
          </a:p>
        </p:txBody>
      </p:sp>
    </p:spTree>
    <p:extLst>
      <p:ext uri="{BB962C8B-B14F-4D97-AF65-F5344CB8AC3E}">
        <p14:creationId xmlns:p14="http://schemas.microsoft.com/office/powerpoint/2010/main" val="69672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6E95F3-ECB5-BE3B-F1FB-E68281088D14}"/>
              </a:ext>
            </a:extLst>
          </p:cNvPr>
          <p:cNvSpPr txBox="1"/>
          <p:nvPr/>
        </p:nvSpPr>
        <p:spPr>
          <a:xfrm>
            <a:off x="4124633" y="403123"/>
            <a:ext cx="42032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2277F-DC02-3C36-D4B4-0190370679BD}"/>
              </a:ext>
            </a:extLst>
          </p:cNvPr>
          <p:cNvSpPr txBox="1"/>
          <p:nvPr/>
        </p:nvSpPr>
        <p:spPr>
          <a:xfrm>
            <a:off x="607143" y="1111009"/>
            <a:ext cx="1123827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CROSS-DATASET REPRODUCIBILITY</a:t>
            </a: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ad gene identification studies rely on single-cohort analysis and lack validation across independent datasets, reducing reliability.</a:t>
            </a:r>
          </a:p>
          <a:p>
            <a:pPr algn="just"/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INADEQUATE MODELING OF COMPLEX GENE NETWORKS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statistical and differential expression methods fail to capture nonlinear and higher-order interactions within biological networks.</a:t>
            </a:r>
          </a:p>
          <a:p>
            <a:pPr algn="just"/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INTEGRATION OF MULTI-SOURCE BIOLOGICAL DATA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approaches do not effectively combine gene expression data with protein–protein interaction (ppi) networks and prior biological knowledge.</a:t>
            </a:r>
          </a:p>
          <a:p>
            <a:pPr algn="just"/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INTERPRETABILITY IN DEEP LEARNING MODELS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deep learning models often act as black boxes, providing limited insight into gene-level contributions and biological mechanisms.</a:t>
            </a:r>
          </a:p>
          <a:p>
            <a:pPr algn="just"/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INSUFFICIENT TRANSLATION TO THERAPEUTIC TARGET DISCOVERY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few computational pipelines systematically connect predicted disease genes to experimentally testable therapeutic hypotheses.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38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15F86-79FE-8C33-E3C1-CC5041F3FE8E}"/>
              </a:ext>
            </a:extLst>
          </p:cNvPr>
          <p:cNvSpPr txBox="1"/>
          <p:nvPr/>
        </p:nvSpPr>
        <p:spPr>
          <a:xfrm>
            <a:off x="2635045" y="28802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5435F1-D3C4-6782-E556-BCE4F1F14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399995"/>
              </p:ext>
            </p:extLst>
          </p:nvPr>
        </p:nvGraphicFramePr>
        <p:xfrm>
          <a:off x="668594" y="995909"/>
          <a:ext cx="10697495" cy="39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245">
                  <a:extLst>
                    <a:ext uri="{9D8B030D-6E8A-4147-A177-3AD203B41FA5}">
                      <a16:colId xmlns:a16="http://schemas.microsoft.com/office/drawing/2014/main" val="863399068"/>
                    </a:ext>
                  </a:extLst>
                </a:gridCol>
                <a:gridCol w="2448232">
                  <a:extLst>
                    <a:ext uri="{9D8B030D-6E8A-4147-A177-3AD203B41FA5}">
                      <a16:colId xmlns:a16="http://schemas.microsoft.com/office/drawing/2014/main" val="2821721110"/>
                    </a:ext>
                  </a:extLst>
                </a:gridCol>
                <a:gridCol w="1956619">
                  <a:extLst>
                    <a:ext uri="{9D8B030D-6E8A-4147-A177-3AD203B41FA5}">
                      <a16:colId xmlns:a16="http://schemas.microsoft.com/office/drawing/2014/main" val="358705670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425882693"/>
                    </a:ext>
                  </a:extLst>
                </a:gridCol>
                <a:gridCol w="1976283">
                  <a:extLst>
                    <a:ext uri="{9D8B030D-6E8A-4147-A177-3AD203B41FA5}">
                      <a16:colId xmlns:a16="http://schemas.microsoft.com/office/drawing/2014/main" val="2891359735"/>
                    </a:ext>
                  </a:extLst>
                </a:gridCol>
              </a:tblGrid>
              <a:tr h="390439"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Ref.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Paper Name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83217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7A9AE5-0547-66A8-B8F9-BF37033B8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106594"/>
              </p:ext>
            </p:extLst>
          </p:nvPr>
        </p:nvGraphicFramePr>
        <p:xfrm>
          <a:off x="668594" y="1376514"/>
          <a:ext cx="10697495" cy="512064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20412">
                  <a:extLst>
                    <a:ext uri="{9D8B030D-6E8A-4147-A177-3AD203B41FA5}">
                      <a16:colId xmlns:a16="http://schemas.microsoft.com/office/drawing/2014/main" val="1308311104"/>
                    </a:ext>
                  </a:extLst>
                </a:gridCol>
                <a:gridCol w="2458065">
                  <a:extLst>
                    <a:ext uri="{9D8B030D-6E8A-4147-A177-3AD203B41FA5}">
                      <a16:colId xmlns:a16="http://schemas.microsoft.com/office/drawing/2014/main" val="2723640369"/>
                    </a:ext>
                  </a:extLst>
                </a:gridCol>
                <a:gridCol w="1962516">
                  <a:extLst>
                    <a:ext uri="{9D8B030D-6E8A-4147-A177-3AD203B41FA5}">
                      <a16:colId xmlns:a16="http://schemas.microsoft.com/office/drawing/2014/main" val="583798733"/>
                    </a:ext>
                  </a:extLst>
                </a:gridCol>
                <a:gridCol w="1978251">
                  <a:extLst>
                    <a:ext uri="{9D8B030D-6E8A-4147-A177-3AD203B41FA5}">
                      <a16:colId xmlns:a16="http://schemas.microsoft.com/office/drawing/2014/main" val="3405009758"/>
                    </a:ext>
                  </a:extLst>
                </a:gridCol>
                <a:gridCol w="1978251">
                  <a:extLst>
                    <a:ext uri="{9D8B030D-6E8A-4147-A177-3AD203B41FA5}">
                      <a16:colId xmlns:a16="http://schemas.microsoft.com/office/drawing/2014/main" val="123129855"/>
                    </a:ext>
                  </a:extLst>
                </a:gridCol>
              </a:tblGrid>
              <a:tr h="1764891"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&amp; </a:t>
                      </a:r>
                      <a:r>
                        <a:rPr lang="en-IN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Kiryu</a:t>
                      </a:r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2023 (Scientific Reports)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oxidative stress-related genes differentially expressed in Alzheimer’s disease and construction of a hub gene-based diagnostic model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 analysis (</a:t>
                      </a:r>
                      <a:r>
                        <a:rPr lang="en-IN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Limma</a:t>
                      </a:r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WGCNA, PPI network (STRING), ROC analysis, LASSO regression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5 oxidative stress-related hub genes (MAPK9, FOXO1, BCL2, ETS1, SP1) and developed a 5-gene diagnostic model (AUC = 0.88 validation)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experimentally validated oxidative stress biomarkers; need clinical validation;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129958"/>
                  </a:ext>
                </a:extLst>
              </a:tr>
              <a:tr h="176489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Cheng et al., 2021 (American Journal of Alzheimer’s Disease &amp; Other Dementias®)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Hub Genes Related to Alzheimer’s Disease and Major Depressive Disorder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 dataset analysis, DEG screening (</a:t>
                      </a:r>
                      <a:r>
                        <a:rPr lang="en-IN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Limma</a:t>
                      </a:r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TF–gene &amp; miRNA–gene networks; ROC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Identified 79 shared DEGs between AD and MDD,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Validated gene expression after venlafaxine treatment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brain tissue datasets for MDD; Small validation sample size; No experimental (in vivo/in vitro) validation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174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707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D01D8B-A5FA-F724-794E-D5FB1464D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020806"/>
              </p:ext>
            </p:extLst>
          </p:nvPr>
        </p:nvGraphicFramePr>
        <p:xfrm>
          <a:off x="535858" y="868761"/>
          <a:ext cx="1112028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4057">
                  <a:extLst>
                    <a:ext uri="{9D8B030D-6E8A-4147-A177-3AD203B41FA5}">
                      <a16:colId xmlns:a16="http://schemas.microsoft.com/office/drawing/2014/main" val="4188740292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1235886428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3714771385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1707346992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4195001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Ref.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Name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32689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4C37232-E108-5EDE-D34C-86A424F84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292110"/>
              </p:ext>
            </p:extLst>
          </p:nvPr>
        </p:nvGraphicFramePr>
        <p:xfrm>
          <a:off x="535857" y="1239601"/>
          <a:ext cx="11120285" cy="530291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24057">
                  <a:extLst>
                    <a:ext uri="{9D8B030D-6E8A-4147-A177-3AD203B41FA5}">
                      <a16:colId xmlns:a16="http://schemas.microsoft.com/office/drawing/2014/main" val="2621577142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1192200846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105617791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3305760295"/>
                    </a:ext>
                  </a:extLst>
                </a:gridCol>
                <a:gridCol w="2224057">
                  <a:extLst>
                    <a:ext uri="{9D8B030D-6E8A-4147-A177-3AD203B41FA5}">
                      <a16:colId xmlns:a16="http://schemas.microsoft.com/office/drawing/2014/main" val="2623265518"/>
                    </a:ext>
                  </a:extLst>
                </a:gridCol>
              </a:tblGrid>
              <a:tr h="2773831">
                <a:tc>
                  <a:txBody>
                    <a:bodyPr/>
                    <a:lstStyle/>
                    <a:p>
                      <a:pPr algn="ctr"/>
                      <a:r>
                        <a:rPr lang="fr-FR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Zhao et al., 2022 (</a:t>
                      </a:r>
                      <a:r>
                        <a:rPr lang="fr-FR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</a:t>
                      </a:r>
                      <a:r>
                        <a:rPr lang="fr-FR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fr-FR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Aging</a:t>
                      </a:r>
                      <a:r>
                        <a:rPr lang="fr-FR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Neuroscience)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analysis and identification of hub genes as novel biomarkers for Alzheimer’s disease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 dataset analysis, DEG screening (</a:t>
                      </a:r>
                      <a:r>
                        <a:rPr lang="en-IN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Limma</a:t>
                      </a:r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); Immune-related gene intersection.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153 immune-related DEGs; Discovered 5 hub genes , Identified AGAP3 as key diagnostic biomarker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experimental validation, Limited clinical data in GEO datasets; Small sample diversity; Mechanistic role of AGAP3 in AD progression not fully explored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283949"/>
                  </a:ext>
                </a:extLst>
              </a:tr>
              <a:tr h="2529081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 ul Kader et al., 2024 (Journal of Kufa for Mathematics and Computer)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 ul Kader et al., 2024 (Journal of Kufa for Mathematics and Computer)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Constructed weighted Protein–Protein Interaction (PPI) network (HPRD + GWAS), HITS algorithm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improved HITS-based weighted PPI approach; Identified top 10 AD hub genes , Integrated biological data with network topology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experimental (wet-lab) validation of identified genes; Limited to PPI and GWAS datasets; Clinical applicability not validated.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75217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C82E886-4D27-3EA8-475A-65A21E3FC0A1}"/>
              </a:ext>
            </a:extLst>
          </p:cNvPr>
          <p:cNvSpPr txBox="1"/>
          <p:nvPr/>
        </p:nvSpPr>
        <p:spPr>
          <a:xfrm>
            <a:off x="3303638" y="16087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315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A0DC3-131C-AA45-8499-730C61E11970}"/>
              </a:ext>
            </a:extLst>
          </p:cNvPr>
          <p:cNvSpPr txBox="1"/>
          <p:nvPr/>
        </p:nvSpPr>
        <p:spPr>
          <a:xfrm>
            <a:off x="3165988" y="47409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0A616-8D90-4821-B418-6E51ECE49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581" y="1308563"/>
            <a:ext cx="7396837" cy="535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459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9961CB-3914-8A46-1EC3-7A4AF1736680}"/>
              </a:ext>
            </a:extLst>
          </p:cNvPr>
          <p:cNvSpPr txBox="1"/>
          <p:nvPr/>
        </p:nvSpPr>
        <p:spPr>
          <a:xfrm>
            <a:off x="3972232" y="300681"/>
            <a:ext cx="4414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41FCD-E563-CBF3-1F45-DFFABEC55088}"/>
              </a:ext>
            </a:extLst>
          </p:cNvPr>
          <p:cNvSpPr txBox="1"/>
          <p:nvPr/>
        </p:nvSpPr>
        <p:spPr>
          <a:xfrm>
            <a:off x="427702" y="980343"/>
            <a:ext cx="11764298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Alzheimer’s Disease gene expression datasets (GSE48350 and GSE11882) are taken from the GEO database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datasets contain gene expression values from Alzheimer’s patients and healthy control samples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Probe IDs are converted into gene names, and only common genes in both datasets are selected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Batch differences between datasets are removed to make them comparable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Min–Max normalization is applied to scale all gene expression values between 0 and 1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Statistical tests (T-test, ANOVA, and </a:t>
            </a:r>
            <a:r>
              <a:rPr lang="en-US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Limma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are used to find genes that show significant differences between AD and control groups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356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6EB5B13-BA19-D4DF-D044-F8FF70752B73}"/>
              </a:ext>
            </a:extLst>
          </p:cNvPr>
          <p:cNvSpPr txBox="1"/>
          <p:nvPr/>
        </p:nvSpPr>
        <p:spPr>
          <a:xfrm>
            <a:off x="432620" y="1367640"/>
            <a:ext cx="113267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gene interaction network is created using co-expression relationships and protein–protein interaction (PPI) data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Each gene is given features such as average expression, fold change, and variance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Graph Convolutional Neural Network (GCNN) is used to analyze both gene features and their connections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Known Alzheimer’s-related genes are used as reference labels to train the model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model is tested across datasets (train on one dataset and test on another) to check reliability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Genes with high prediction scores and strong network importance are selected as potential hub genes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Finally, pathway analysis is performed to confirm whether these genes are related to Alzheimer’s biological processes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74572-84F4-5969-959A-26AA0C4D341A}"/>
              </a:ext>
            </a:extLst>
          </p:cNvPr>
          <p:cNvSpPr txBox="1"/>
          <p:nvPr/>
        </p:nvSpPr>
        <p:spPr>
          <a:xfrm>
            <a:off x="3888658" y="473602"/>
            <a:ext cx="44146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39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92E1BA-8BC2-11D6-780C-A92694EE9674}"/>
              </a:ext>
            </a:extLst>
          </p:cNvPr>
          <p:cNvSpPr txBox="1"/>
          <p:nvPr/>
        </p:nvSpPr>
        <p:spPr>
          <a:xfrm>
            <a:off x="2915264" y="274614"/>
            <a:ext cx="63614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FB638-2963-B9A6-0F64-467C1F42269F}"/>
              </a:ext>
            </a:extLst>
          </p:cNvPr>
          <p:cNvSpPr txBox="1"/>
          <p:nvPr/>
        </p:nvSpPr>
        <p:spPr>
          <a:xfrm>
            <a:off x="1140542" y="1104714"/>
            <a:ext cx="959628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Datasets obtained from National </a:t>
            </a:r>
            <a:r>
              <a:rPr lang="en-IN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Biotechnology Information (NCBI)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Website: </a:t>
            </a:r>
            <a:r>
              <a:rPr lang="en-IN" sz="2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https://www.ncbi.nlm.nih.gov</a:t>
            </a:r>
            <a:endParaRPr lang="en-IN" sz="20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Accessed through Gene Expression Omnibus (GEO)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Website: </a:t>
            </a:r>
            <a:r>
              <a:rPr lang="en-IN" sz="20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https://www.ncbi.nlm.nih.gov/geo/</a:t>
            </a:r>
            <a:endParaRPr lang="en-IN" sz="2000" b="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 datasets: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GSE48350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GSE11882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Microarray-based gene expression data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Includes Alzheimer’s disease and control samples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Expression matrices downloaded for preprocessing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0A97297-2880-E633-EA92-A5F25B64D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723C5A-183C-CB0B-2960-58377E90F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3720" y="1523999"/>
            <a:ext cx="3518039" cy="17141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C7BC3F-3267-29AE-6907-D453B8C9A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63"/>
          <a:stretch>
            <a:fillRect/>
          </a:stretch>
        </p:blipFill>
        <p:spPr>
          <a:xfrm>
            <a:off x="8383272" y="3657415"/>
            <a:ext cx="3158487" cy="10829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42A196-5A1F-234F-CE46-0906E14F4F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61"/>
          <a:stretch>
            <a:fillRect/>
          </a:stretch>
        </p:blipFill>
        <p:spPr>
          <a:xfrm>
            <a:off x="8370569" y="5023762"/>
            <a:ext cx="3171190" cy="12117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0765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0DED10-72F1-0DAB-4848-E17069865409}"/>
              </a:ext>
            </a:extLst>
          </p:cNvPr>
          <p:cNvSpPr txBox="1"/>
          <p:nvPr/>
        </p:nvSpPr>
        <p:spPr>
          <a:xfrm>
            <a:off x="3234813" y="263073"/>
            <a:ext cx="64106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&amp; </a:t>
            </a:r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ECHNOLOGY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155DFD-46BF-46EB-23BF-EA087B9E6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60" y="1228397"/>
            <a:ext cx="545166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Programming Language</a:t>
            </a:r>
            <a:endParaRPr kumimoji="0" lang="en-US" altLang="en-US" sz="200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Development Environment</a:t>
            </a:r>
            <a:endParaRPr kumimoji="0" lang="en-US" altLang="en-US" sz="200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kumimoji="0" lang="en-US" altLang="en-US" sz="2000" i="0" strike="noStrike" cap="none" normalizeH="0" baseline="0" dirty="0" err="1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kumimoji="0" lang="en-US" altLang="en-US" sz="200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Data Source</a:t>
            </a:r>
            <a:endParaRPr kumimoji="0" lang="en-US" altLang="en-US" sz="200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National Center for Biotechnology Information Gene Expression Omnibus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Datasets Used</a:t>
            </a:r>
            <a:endParaRPr kumimoji="0" lang="en-US" altLang="en-US" sz="200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GSE48350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GSE11882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2E5593-ECAB-19F5-8778-27BF65E1B807}"/>
              </a:ext>
            </a:extLst>
          </p:cNvPr>
          <p:cNvSpPr txBox="1"/>
          <p:nvPr/>
        </p:nvSpPr>
        <p:spPr>
          <a:xfrm>
            <a:off x="5987904" y="1734624"/>
            <a:ext cx="516865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Libraries &amp; Packages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– numerical computation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– data preprocessing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– t-test analysis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Statsmodels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OLS modeling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Statistical Methods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t-test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LIMMA test (Linear Model–based approach)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093CCA-4059-C551-F3C1-E4219F387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7288" y="2861767"/>
            <a:ext cx="683252" cy="4941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89CE4E-4CF0-02A4-97E2-71A3048CE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826" y="1515166"/>
            <a:ext cx="494176" cy="494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16D121-CA15-FAC8-8693-5E4372BF31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520" y="1764355"/>
            <a:ext cx="528320" cy="5521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6C9129-E937-BB2C-1F09-A118F8577D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5120" y="4904723"/>
            <a:ext cx="2863852" cy="18207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068798-52C4-9B37-A5CB-90DCD495E5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595" y="2922444"/>
            <a:ext cx="704436" cy="43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09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318284-8661-9A61-D24B-4DF72D092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6189" y="429428"/>
            <a:ext cx="657962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5735CD-A520-4C1B-8DB0-E496DF216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496" y="1323817"/>
            <a:ext cx="8855042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NCBI / GEO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↓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Data Extraction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↓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Data Cleaning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↓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Min-Max Normalization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↓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Statistical Testing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↓</a:t>
            </a:r>
            <a:endParaRPr kumimoji="0" lang="en-US" altLang="en-US" sz="6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1" u="none" strike="noStrike" cap="none" normalizeH="0" baseline="0" dirty="0">
                <a:ln>
                  <a:noFill/>
                </a:ln>
                <a:latin typeface="Arial" panose="020B0604020202020204" pitchFamily="34" charset="0"/>
              </a:rPr>
              <a:t>Intersection of Significant Probes</a:t>
            </a:r>
            <a:endParaRPr kumimoji="0" lang="en-US" altLang="en-US" sz="1400" i="0" u="none" strike="noStrike" cap="none" normalizeH="0" baseline="0" dirty="0">
              <a:ln>
                <a:noFill/>
              </a:ln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307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3A75C2-AE1D-6C13-FD4D-64FAE32EF034}"/>
              </a:ext>
            </a:extLst>
          </p:cNvPr>
          <p:cNvSpPr txBox="1"/>
          <p:nvPr/>
        </p:nvSpPr>
        <p:spPr>
          <a:xfrm>
            <a:off x="3668088" y="440993"/>
            <a:ext cx="51914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BBC09-6E2B-3F16-CABC-7FCF6A1FCD89}"/>
              </a:ext>
            </a:extLst>
          </p:cNvPr>
          <p:cNvSpPr txBox="1"/>
          <p:nvPr/>
        </p:nvSpPr>
        <p:spPr>
          <a:xfrm>
            <a:off x="548641" y="1457827"/>
            <a:ext cx="10810239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Collected datasets from Gene Expression Omnibus (GSE48350 and GSE11882)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Extracted and structured expression matrices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Cleaned the data by removing missing and duplicate entries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Applied Min-Max normalization to scale expression values between 0 and 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Performed statistical analysis using: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t-test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ANOVA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LcPeriod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LIMMA-inspired linear model (OLS using </a:t>
            </a:r>
            <a:r>
              <a:rPr lang="en-IN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Statsmodels</a:t>
            </a: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Obtained significant probe sets from each dataset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Performed intersection to identify common significant probes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F2E238-569D-D746-FCA5-0D79C6E81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445" y="3429000"/>
            <a:ext cx="3754914" cy="12845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FAE85F-3660-F93D-BC8F-62851ED1E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73"/>
          <a:stretch>
            <a:fillRect/>
          </a:stretch>
        </p:blipFill>
        <p:spPr>
          <a:xfrm>
            <a:off x="7910476" y="5138550"/>
            <a:ext cx="3732883" cy="11145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19AABF6-E0CE-1BBF-E7FB-7DA99E3DB13E}"/>
              </a:ext>
            </a:extLst>
          </p:cNvPr>
          <p:cNvSpPr txBox="1"/>
          <p:nvPr/>
        </p:nvSpPr>
        <p:spPr>
          <a:xfrm>
            <a:off x="9335129" y="4713576"/>
            <a:ext cx="12731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filtered dataset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D06E21-F19D-C744-4D1D-2CBAD71BEF12}"/>
              </a:ext>
            </a:extLst>
          </p:cNvPr>
          <p:cNvSpPr txBox="1"/>
          <p:nvPr/>
        </p:nvSpPr>
        <p:spPr>
          <a:xfrm>
            <a:off x="9335129" y="6271041"/>
            <a:ext cx="1202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filtered dataset</a:t>
            </a:r>
          </a:p>
        </p:txBody>
      </p:sp>
    </p:spTree>
    <p:extLst>
      <p:ext uri="{BB962C8B-B14F-4D97-AF65-F5344CB8AC3E}">
        <p14:creationId xmlns:p14="http://schemas.microsoft.com/office/powerpoint/2010/main" val="3820621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2E0915-E73E-42BD-1657-9E3023748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090" y="577969"/>
            <a:ext cx="366158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kumimoji="0" lang="en-US" altLang="en-US" sz="4000" b="1" i="0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E7E8A36-FE38-FD92-1CF3-DCCD6E05D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80" y="1209794"/>
            <a:ext cx="1130808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GCNN-based framework successfully identified biologically meaningful and reproducible Alzheimer’s disease hub genes from integrated multi-cohort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Cross-dataset transfer validation demonstrated strong robustness and generalization without model refitting.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Attribution analysis improved interpretability by quantifying each gene’s contribution to disease prediction.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prioritized hub genes showed significant enrichment in key AD-related pathways (synaptic signaling, neuroinflammation, and mitochondrial dysfunction), supporting biological relevance and therapeutic potential.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3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D5A408-4919-F0FC-A517-51273A10B384}"/>
              </a:ext>
            </a:extLst>
          </p:cNvPr>
          <p:cNvSpPr txBox="1"/>
          <p:nvPr/>
        </p:nvSpPr>
        <p:spPr>
          <a:xfrm>
            <a:off x="634617" y="1306734"/>
            <a:ext cx="11159612" cy="4973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755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Al-Shoukry, S.,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Rassem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T. H., &amp;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Makbol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M. (2020). Alzheimer’s diseases detection by using deep learning algorithms: a mini-review. IEEE Access, 8, 77131–77141. https://doi.org/10.1109/ACCESS.2020.298939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Arya, A. D., Singh Verma, S., Chakrabarti, P., Chakrabarti, T.,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Elngar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 A., Nami, M., et al. (2023). A systematic review on machine learning and deep learning techniques in the effective diagnosis of Alzheimer’s disease. Brain Informatics, 10(17). https://doi.org/10.21203/RS.3.RS-2028945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El-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Gawady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A., Makhlouf, M. A., Tawfik, B. S., &amp; Nassar, H. (2022). Machine Learning Framework for the Prediction of Alzheimer’s Disease Using Gene Expression Data Based on Efficient Gene Selection. Symmetry, 14(3), 491. https://doi.org/10.3390/sym14030491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Mahendran, N., Vincent, P. M. D. R., Srinivasan, K., &amp; Chang, C.-Y. (2021). Improving the Classification of Alzheimer’s Disease Using Hybrid Gene Selection Pipeline and Deep Learning. Frontiers in Genetics, 12, 784814. https://doi.org/10.3389/fgene.2021.784814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Ray, S., et al. (2017). A comprehensive analysis on preservation patterns of gene co-expression networks during Alzheimer’s disease progression. BMC Bioinformatics, 18, 579. https://doi.org/10.1186/s12859-017-1946-8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755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Sims, J. R., et al. (2023). Donanemab in early symptomatic Alzheimer disease: The TRAILBLAZER-ALZ 2 randomized clinical trial. JAMA.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1F540-3E8C-C260-0EEF-55DFCD602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586" y="400988"/>
            <a:ext cx="256865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kumimoji="0" lang="en-US" altLang="en-US" sz="4000" b="1" i="0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753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06BD5D-904B-5411-732A-496ADBB04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98CBC-8C7C-D792-CE34-C55B3AD9CF8C}"/>
              </a:ext>
            </a:extLst>
          </p:cNvPr>
          <p:cNvSpPr txBox="1"/>
          <p:nvPr/>
        </p:nvSpPr>
        <p:spPr>
          <a:xfrm>
            <a:off x="2438400" y="2360414"/>
            <a:ext cx="7985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IN" sz="9600" b="1" cap="all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cap="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5243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862</TotalTime>
  <Words>1693</Words>
  <Application>Microsoft Office PowerPoint</Application>
  <PresentationFormat>Widescreen</PresentationFormat>
  <Paragraphs>187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Rounded MT Bold</vt:lpstr>
      <vt:lpstr>Corbel</vt:lpstr>
      <vt:lpstr>Times New Roman</vt:lpstr>
      <vt:lpstr>Wingdings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 Singh</dc:creator>
  <cp:lastModifiedBy>FALGUNI YADAV</cp:lastModifiedBy>
  <cp:revision>14</cp:revision>
  <dcterms:created xsi:type="dcterms:W3CDTF">2026-02-25T06:47:45Z</dcterms:created>
  <dcterms:modified xsi:type="dcterms:W3CDTF">2026-03-09T01:52:59Z</dcterms:modified>
</cp:coreProperties>
</file>