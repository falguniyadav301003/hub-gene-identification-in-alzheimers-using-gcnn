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  <p:sldMasterId id="2147483881" r:id="rId2"/>
  </p:sldMasterIdLst>
  <p:sldIdLst>
    <p:sldId id="257" r:id="rId3"/>
    <p:sldId id="285" r:id="rId4"/>
    <p:sldId id="281" r:id="rId5"/>
    <p:sldId id="279" r:id="rId6"/>
    <p:sldId id="282" r:id="rId7"/>
    <p:sldId id="262" r:id="rId8"/>
    <p:sldId id="286" r:id="rId9"/>
    <p:sldId id="264" r:id="rId10"/>
    <p:sldId id="266" r:id="rId11"/>
    <p:sldId id="276" r:id="rId12"/>
    <p:sldId id="260" r:id="rId13"/>
    <p:sldId id="268" r:id="rId14"/>
    <p:sldId id="269" r:id="rId15"/>
    <p:sldId id="283" r:id="rId16"/>
    <p:sldId id="290" r:id="rId17"/>
    <p:sldId id="280" r:id="rId18"/>
    <p:sldId id="288" r:id="rId19"/>
    <p:sldId id="289" r:id="rId20"/>
    <p:sldId id="27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26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15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89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979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06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11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51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165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19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00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311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966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787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782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7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490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4503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28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1974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51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5220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38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2F3AA49-0329-4ED2-95E0-A935A92A889E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A56B13FE-8728-4857-9802-E396CFBC8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238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20E61DA5-14B1-4779-BA75-7F4F45DE68B2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06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geo/" TargetMode="External"/><Relationship Id="rId2" Type="http://schemas.openxmlformats.org/officeDocument/2006/relationships/hyperlink" Target="https://www.ncbi.nlm.nih.gov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1203/RS.3.RS-2028945" TargetMode="External"/><Relationship Id="rId2" Type="http://schemas.openxmlformats.org/officeDocument/2006/relationships/hyperlink" Target="https://doi.org/10.1109/ACCESS.2020.298939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doi.org/10.1186/s12859-017-1946-8" TargetMode="External"/><Relationship Id="rId5" Type="http://schemas.openxmlformats.org/officeDocument/2006/relationships/hyperlink" Target="https://doi.org/10.3389/fgene.2021.784814" TargetMode="External"/><Relationship Id="rId4" Type="http://schemas.openxmlformats.org/officeDocument/2006/relationships/hyperlink" Target="https://doi.org/10.3390/sym14030491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8A324-9D05-3470-290B-F14424028564}"/>
              </a:ext>
            </a:extLst>
          </p:cNvPr>
          <p:cNvSpPr txBox="1"/>
          <p:nvPr/>
        </p:nvSpPr>
        <p:spPr>
          <a:xfrm>
            <a:off x="717754" y="611991"/>
            <a:ext cx="108941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Graph Convolutional Neural Network (GCNN) Modelling for Hub-Gene identification in Alzheimer’s Disease Using Integrated Co-expression and Protein-Protein Interaction(PPI) analysis with Cross-Dataset Validation</a:t>
            </a: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IN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F2D0D-AD38-0995-977C-8D3F0FD3CC93}"/>
              </a:ext>
            </a:extLst>
          </p:cNvPr>
          <p:cNvSpPr txBox="1"/>
          <p:nvPr/>
        </p:nvSpPr>
        <p:spPr>
          <a:xfrm>
            <a:off x="4195860" y="1870697"/>
            <a:ext cx="6096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FALGUNI YADAV (UG/02/BTCSE/2022/012)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RUCHI SINGH (UG/02/BTCSE/2022/054)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CHAITI BAIN (UG/02/BTCSE/2022/055)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002F-6D9B-64F7-ED62-9308A586C316}"/>
              </a:ext>
            </a:extLst>
          </p:cNvPr>
          <p:cNvSpPr txBox="1"/>
          <p:nvPr/>
        </p:nvSpPr>
        <p:spPr>
          <a:xfrm>
            <a:off x="4218040" y="406860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77562-45FE-F0E4-0685-28A78DA68A2C}"/>
              </a:ext>
            </a:extLst>
          </p:cNvPr>
          <p:cNvSpPr txBox="1"/>
          <p:nvPr/>
        </p:nvSpPr>
        <p:spPr>
          <a:xfrm>
            <a:off x="3655084" y="4609811"/>
            <a:ext cx="631231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Mr. Arup Mallick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Assistant Professor </a:t>
            </a:r>
          </a:p>
          <a:p>
            <a:pPr rtl="0">
              <a:buNone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Adamas University</a:t>
            </a: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B8EA0-AA1F-FD63-55A2-F611E8E92C4E}"/>
              </a:ext>
            </a:extLst>
          </p:cNvPr>
          <p:cNvSpPr txBox="1"/>
          <p:nvPr/>
        </p:nvSpPr>
        <p:spPr>
          <a:xfrm>
            <a:off x="2603033" y="17109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highlight>
                  <a:srgbClr val="808080"/>
                </a:highlight>
                <a:latin typeface="Arial Rounded MT Bold" panose="020F0704030504030204" pitchFamily="34" charset="0"/>
              </a:rPr>
              <a:t>Presented by</a:t>
            </a:r>
          </a:p>
        </p:txBody>
      </p:sp>
      <p:pic>
        <p:nvPicPr>
          <p:cNvPr id="10" name="Picture 2" descr="Adamas University Admission 2024 - 2025, Fees, Courses, Placements ...">
            <a:extLst>
              <a:ext uri="{FF2B5EF4-FFF2-40B4-BE49-F238E27FC236}">
                <a16:creationId xmlns:a16="http://schemas.microsoft.com/office/drawing/2014/main" id="{28E1D77A-6944-64D5-22C0-51771E87C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795" y="3000629"/>
            <a:ext cx="1602658" cy="141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958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2FDDE-C8CB-A991-E7F8-7A001BFB6A1A}"/>
              </a:ext>
            </a:extLst>
          </p:cNvPr>
          <p:cNvSpPr txBox="1"/>
          <p:nvPr/>
        </p:nvSpPr>
        <p:spPr>
          <a:xfrm>
            <a:off x="2826772" y="500387"/>
            <a:ext cx="61402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DC9A1-6DA9-6AB6-FF03-29B4D082DED8}"/>
              </a:ext>
            </a:extLst>
          </p:cNvPr>
          <p:cNvSpPr txBox="1"/>
          <p:nvPr/>
        </p:nvSpPr>
        <p:spPr>
          <a:xfrm>
            <a:off x="1730477" y="2045110"/>
            <a:ext cx="1710813" cy="71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4F44C20-4C78-47C7-65BB-9887E46F3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554" y="1299379"/>
            <a:ext cx="9901085" cy="3885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Alzheimer's Disease (AD) is a progressive neurodegenerative disorder causing memory loss, cognitive decline, and eventual death, with cases rapidly increasing worldwide.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Early diagnosis is vital to slow progression, but traditional methods detect AD at advanced stages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identifying reliable hub genes in Alzheimer's disease (AD)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 in modeling co-expression and Protein-Protein</a:t>
            </a:r>
            <a:r>
              <a:rPr lang="en-US" altLang="en-US" dirty="0">
                <a:latin typeface="Arial" panose="020B0604020202020204" pitchFamily="34" charset="0"/>
              </a:rPr>
              <a:t> Interaction (PPI)</a:t>
            </a: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networks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</a:t>
            </a: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dvanced models like GCNN (</a:t>
            </a:r>
            <a:r>
              <a:rPr lang="en-IN" dirty="0">
                <a:latin typeface="Arial" panose="020B0604020202020204" pitchFamily="34" charset="0"/>
              </a:rPr>
              <a:t>Graph Convolutional Neural Network </a:t>
            </a:r>
            <a:r>
              <a:rPr lang="en-I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kumimoji="0" lang="en-US" altLang="en-US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better analysis. </a:t>
            </a:r>
          </a:p>
        </p:txBody>
      </p:sp>
    </p:spTree>
    <p:extLst>
      <p:ext uri="{BB962C8B-B14F-4D97-AF65-F5344CB8AC3E}">
        <p14:creationId xmlns:p14="http://schemas.microsoft.com/office/powerpoint/2010/main" val="391968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CF03EAF-0195-E9FF-E323-102A7BC93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37" y="1238935"/>
            <a:ext cx="9065344" cy="3967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gene expression data from GEO datasets : </a:t>
            </a:r>
            <a:r>
              <a:rPr lang="en-IN" sz="2000" i="1" dirty="0"/>
              <a:t>GSE48350 (AD vs Control) , GSE11882 (AD vs Control)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Identify Differentially Expressed Genes (DEGs)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GCNN to learn complex relationships 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Construct gene interaction networks (co-expression + PPI)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key hub genes related to Alzheimer’s disease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385F4F-2378-F639-AF0B-2CF8698B0D6F}"/>
              </a:ext>
            </a:extLst>
          </p:cNvPr>
          <p:cNvSpPr txBox="1"/>
          <p:nvPr/>
        </p:nvSpPr>
        <p:spPr>
          <a:xfrm>
            <a:off x="4372895" y="628206"/>
            <a:ext cx="34462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2028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6E95F3-ECB5-BE3B-F1FB-E68281088D14}"/>
              </a:ext>
            </a:extLst>
          </p:cNvPr>
          <p:cNvSpPr txBox="1"/>
          <p:nvPr/>
        </p:nvSpPr>
        <p:spPr>
          <a:xfrm>
            <a:off x="3994355" y="452285"/>
            <a:ext cx="42032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2277F-DC02-3C36-D4B4-0190370679BD}"/>
              </a:ext>
            </a:extLst>
          </p:cNvPr>
          <p:cNvSpPr txBox="1"/>
          <p:nvPr/>
        </p:nvSpPr>
        <p:spPr>
          <a:xfrm>
            <a:off x="626808" y="1307654"/>
            <a:ext cx="1123827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LIMITED CROSS-DATASET REPRODUCIBILITY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most existing ad gene identification studies rely on single-cohort analysis and lack validation across independent datasets, reducing reliability.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INADEQUATE MODELING OF COMPLEX GENE NETWORKS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traditional statistical and differential expression methods fail to capture nonlinear and higher-order interactions within biological networks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POOR INTEGRATION OF MULTI-SOURCE BIOLOGICAL DATA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many approaches do not effectively combine gene expression data with protein–protein interaction (ppi) networks and prior biological knowledge.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LACK OF INTERPRETABILITY IN DEEP LEARNING MODELS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existing deep learning models often act as black boxes, providing limited insight into gene-level contributions and biological mechanisms.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INSUFFICIENT TRANSLATION TO THERAPEUTIC TARGET DISCOVERY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few computational pipelines systematically connect predicted disease genes to experimentally testable therapeutic hypotheses.</a:t>
            </a:r>
          </a:p>
        </p:txBody>
      </p:sp>
    </p:spTree>
    <p:extLst>
      <p:ext uri="{BB962C8B-B14F-4D97-AF65-F5344CB8AC3E}">
        <p14:creationId xmlns:p14="http://schemas.microsoft.com/office/powerpoint/2010/main" val="179138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15F86-79FE-8C33-E3C1-CC5041F3FE8E}"/>
              </a:ext>
            </a:extLst>
          </p:cNvPr>
          <p:cNvSpPr txBox="1"/>
          <p:nvPr/>
        </p:nvSpPr>
        <p:spPr>
          <a:xfrm>
            <a:off x="2635045" y="28802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5435F1-D3C4-6782-E556-BCE4F1F14BD2}"/>
              </a:ext>
            </a:extLst>
          </p:cNvPr>
          <p:cNvGraphicFramePr>
            <a:graphicFrameLocks noGrp="1"/>
          </p:cNvGraphicFramePr>
          <p:nvPr/>
        </p:nvGraphicFramePr>
        <p:xfrm>
          <a:off x="668594" y="995909"/>
          <a:ext cx="10697495" cy="39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245">
                  <a:extLst>
                    <a:ext uri="{9D8B030D-6E8A-4147-A177-3AD203B41FA5}">
                      <a16:colId xmlns:a16="http://schemas.microsoft.com/office/drawing/2014/main" val="863399068"/>
                    </a:ext>
                  </a:extLst>
                </a:gridCol>
                <a:gridCol w="2448232">
                  <a:extLst>
                    <a:ext uri="{9D8B030D-6E8A-4147-A177-3AD203B41FA5}">
                      <a16:colId xmlns:a16="http://schemas.microsoft.com/office/drawing/2014/main" val="2821721110"/>
                    </a:ext>
                  </a:extLst>
                </a:gridCol>
                <a:gridCol w="1956619">
                  <a:extLst>
                    <a:ext uri="{9D8B030D-6E8A-4147-A177-3AD203B41FA5}">
                      <a16:colId xmlns:a16="http://schemas.microsoft.com/office/drawing/2014/main" val="358705670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425882693"/>
                    </a:ext>
                  </a:extLst>
                </a:gridCol>
                <a:gridCol w="1976283">
                  <a:extLst>
                    <a:ext uri="{9D8B030D-6E8A-4147-A177-3AD203B41FA5}">
                      <a16:colId xmlns:a16="http://schemas.microsoft.com/office/drawing/2014/main" val="2891359735"/>
                    </a:ext>
                  </a:extLst>
                </a:gridCol>
              </a:tblGrid>
              <a:tr h="390439"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Ref.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Paper Name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83217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7A9AE5-0547-66A8-B8F9-BF37033B829C}"/>
              </a:ext>
            </a:extLst>
          </p:cNvPr>
          <p:cNvGraphicFramePr>
            <a:graphicFrameLocks noGrp="1"/>
          </p:cNvGraphicFramePr>
          <p:nvPr/>
        </p:nvGraphicFramePr>
        <p:xfrm>
          <a:off x="668594" y="1376514"/>
          <a:ext cx="10697495" cy="51206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20412">
                  <a:extLst>
                    <a:ext uri="{9D8B030D-6E8A-4147-A177-3AD203B41FA5}">
                      <a16:colId xmlns:a16="http://schemas.microsoft.com/office/drawing/2014/main" val="1308311104"/>
                    </a:ext>
                  </a:extLst>
                </a:gridCol>
                <a:gridCol w="2458065">
                  <a:extLst>
                    <a:ext uri="{9D8B030D-6E8A-4147-A177-3AD203B41FA5}">
                      <a16:colId xmlns:a16="http://schemas.microsoft.com/office/drawing/2014/main" val="2723640369"/>
                    </a:ext>
                  </a:extLst>
                </a:gridCol>
                <a:gridCol w="1962516">
                  <a:extLst>
                    <a:ext uri="{9D8B030D-6E8A-4147-A177-3AD203B41FA5}">
                      <a16:colId xmlns:a16="http://schemas.microsoft.com/office/drawing/2014/main" val="583798733"/>
                    </a:ext>
                  </a:extLst>
                </a:gridCol>
                <a:gridCol w="1978251">
                  <a:extLst>
                    <a:ext uri="{9D8B030D-6E8A-4147-A177-3AD203B41FA5}">
                      <a16:colId xmlns:a16="http://schemas.microsoft.com/office/drawing/2014/main" val="3405009758"/>
                    </a:ext>
                  </a:extLst>
                </a:gridCol>
                <a:gridCol w="1978251">
                  <a:extLst>
                    <a:ext uri="{9D8B030D-6E8A-4147-A177-3AD203B41FA5}">
                      <a16:colId xmlns:a16="http://schemas.microsoft.com/office/drawing/2014/main" val="123129855"/>
                    </a:ext>
                  </a:extLst>
                </a:gridCol>
              </a:tblGrid>
              <a:tr h="1764891"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&amp; </a:t>
                      </a:r>
                      <a:r>
                        <a:rPr lang="en-IN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Kiryu</a:t>
                      </a:r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2023 (Scientific Reports)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oxidative stress-related genes differentially expressed in Alzheimer’s disease and construction of a hub gene-based diagnostic 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 analysis (</a:t>
                      </a:r>
                      <a:r>
                        <a:rPr lang="en-IN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Limma</a:t>
                      </a:r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WGCNA, PPI network (STRING), ROC analysis, LASSO regression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5 oxidative stress-related hub genes (MAPK9, FOXO1, BCL2, ETS1, SP1) and developed a 5-gene diagnostic model (AUC = 0.88 validation)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experimentally validated oxidative stress biomarkers; need clinical validation;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129958"/>
                  </a:ext>
                </a:extLst>
              </a:tr>
              <a:tr h="176489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Cheng et al., 2021 (American Journal of Alzheimer’s Disease &amp; Other Dementias®)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Hub Genes Related to Alzheimer’s Disease and Major Depressive Disorder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 dataset analysis, DEG screening (</a:t>
                      </a:r>
                      <a:r>
                        <a:rPr lang="en-IN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Limma</a:t>
                      </a:r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TF–gene &amp; miRNA–gene networks; ROC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Identified 79 shared DEGs between AD and MDD,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Validated gene expression after venlafaxine treatment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brain tissue datasets for MDD; Small validation sample size; No experimental (in vivo/in vitro) validation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4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099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D01D8B-A5FA-F724-794E-D5FB1464D53D}"/>
              </a:ext>
            </a:extLst>
          </p:cNvPr>
          <p:cNvGraphicFramePr>
            <a:graphicFrameLocks noGrp="1"/>
          </p:cNvGraphicFramePr>
          <p:nvPr/>
        </p:nvGraphicFramePr>
        <p:xfrm>
          <a:off x="535858" y="868761"/>
          <a:ext cx="111202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057">
                  <a:extLst>
                    <a:ext uri="{9D8B030D-6E8A-4147-A177-3AD203B41FA5}">
                      <a16:colId xmlns:a16="http://schemas.microsoft.com/office/drawing/2014/main" val="4188740292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1235886428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3714771385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1707346992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4195001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Name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32689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C37232-E108-5EDE-D34C-86A424F8412F}"/>
              </a:ext>
            </a:extLst>
          </p:cNvPr>
          <p:cNvGraphicFramePr>
            <a:graphicFrameLocks noGrp="1"/>
          </p:cNvGraphicFramePr>
          <p:nvPr/>
        </p:nvGraphicFramePr>
        <p:xfrm>
          <a:off x="535857" y="1239601"/>
          <a:ext cx="11120285" cy="530291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24057">
                  <a:extLst>
                    <a:ext uri="{9D8B030D-6E8A-4147-A177-3AD203B41FA5}">
                      <a16:colId xmlns:a16="http://schemas.microsoft.com/office/drawing/2014/main" val="2621577142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1192200846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105617791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3305760295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2623265518"/>
                    </a:ext>
                  </a:extLst>
                </a:gridCol>
              </a:tblGrid>
              <a:tr h="2773831">
                <a:tc>
                  <a:txBody>
                    <a:bodyPr/>
                    <a:lstStyle/>
                    <a:p>
                      <a:pPr algn="ctr"/>
                      <a:r>
                        <a:rPr lang="fr-FR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Zhao et al., 2022 (</a:t>
                      </a:r>
                      <a:r>
                        <a:rPr lang="fr-FR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</a:t>
                      </a:r>
                      <a:r>
                        <a:rPr lang="fr-FR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fr-FR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Aging</a:t>
                      </a:r>
                      <a:r>
                        <a:rPr lang="fr-FR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Neuroscience)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analysis and identification of hub genes as novel biomarkers for Alzheimer’s disease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 dataset analysis, DEG screening (</a:t>
                      </a:r>
                      <a:r>
                        <a:rPr lang="en-IN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Limma</a:t>
                      </a:r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 Immune-related gene intersection.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153 immune-related DEGs; Discovered 5 hub genes , Identified AGAP3 as key diagnostic biomarker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experimental validation, Limited clinical data in GEO datasets; Small sample diversity; Mechanistic role of AGAP3 in AD progression not fully explored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283949"/>
                  </a:ext>
                </a:extLst>
              </a:tr>
              <a:tr h="252908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 ul Kader et al., 2024 (Journal of Kufa for Mathematics and Computer)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 ul Kader et al., 2024 (Journal of Kufa for Mathematics and Computer)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Constructed weighted Protein–Protein Interaction (PPI) network (HPRD + GWAS), HITS algorithm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improved HITS-based weighted PPI approach; Identified top 10 AD hub genes , Integrated biological data with network topology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experimental (wet-lab) validation of identified genes; Limited to PPI and GWAS datasets; Clinical applicability not validated.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75217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82E886-4D27-3EA8-475A-65A21E3FC0A1}"/>
              </a:ext>
            </a:extLst>
          </p:cNvPr>
          <p:cNvSpPr txBox="1"/>
          <p:nvPr/>
        </p:nvSpPr>
        <p:spPr>
          <a:xfrm>
            <a:off x="3303638" y="16087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155315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4C2489-AC04-4EF1-18BC-E550F35AA386}"/>
              </a:ext>
            </a:extLst>
          </p:cNvPr>
          <p:cNvSpPr txBox="1"/>
          <p:nvPr/>
        </p:nvSpPr>
        <p:spPr>
          <a:xfrm>
            <a:off x="3333135" y="392979"/>
            <a:ext cx="52110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33984-1C04-F25F-4B26-A111950A6831}"/>
              </a:ext>
            </a:extLst>
          </p:cNvPr>
          <p:cNvSpPr txBox="1"/>
          <p:nvPr/>
        </p:nvSpPr>
        <p:spPr>
          <a:xfrm>
            <a:off x="1179871" y="1455790"/>
            <a:ext cx="60960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Collection</a:t>
            </a:r>
            <a:br>
              <a:rPr lang="en-IN" dirty="0"/>
            </a:br>
            <a:r>
              <a:rPr lang="en-IN" sz="1600" i="1" dirty="0"/>
              <a:t>GSE48350 + GSE11882</a:t>
            </a:r>
            <a:br>
              <a:rPr lang="en-IN" dirty="0"/>
            </a:br>
            <a:r>
              <a:rPr lang="en-IN" dirty="0"/>
              <a:t>             ↓</a:t>
            </a:r>
            <a:br>
              <a:rPr lang="en-IN" dirty="0"/>
            </a:br>
            <a:r>
              <a:rPr lang="en-IN" sz="2000" b="1" dirty="0"/>
              <a:t>Preprocessing</a:t>
            </a:r>
            <a:br>
              <a:rPr lang="en-IN" dirty="0"/>
            </a:br>
            <a:r>
              <a:rPr lang="en-IN" sz="1600" i="1" dirty="0"/>
              <a:t>(Clean data, probe → gene, common genes)</a:t>
            </a:r>
            <a:br>
              <a:rPr lang="en-IN" dirty="0"/>
            </a:br>
            <a:r>
              <a:rPr lang="en-IN" dirty="0"/>
              <a:t>             ↓</a:t>
            </a:r>
            <a:br>
              <a:rPr lang="en-IN" dirty="0"/>
            </a:br>
            <a:r>
              <a:rPr lang="en-IN" sz="2000" b="1" dirty="0"/>
              <a:t>Normalization</a:t>
            </a:r>
            <a:br>
              <a:rPr lang="en-IN" dirty="0"/>
            </a:br>
            <a:r>
              <a:rPr lang="en-IN" sz="1600" i="1" dirty="0"/>
              <a:t>(Min-Max scaling: 0–1)</a:t>
            </a:r>
            <a:br>
              <a:rPr lang="en-IN" dirty="0"/>
            </a:br>
            <a:r>
              <a:rPr lang="en-IN" dirty="0"/>
              <a:t>              ↓</a:t>
            </a:r>
            <a:br>
              <a:rPr lang="en-IN" dirty="0"/>
            </a:br>
            <a:r>
              <a:rPr lang="en-IN" sz="2000" b="1" dirty="0"/>
              <a:t>Feature Engineering</a:t>
            </a:r>
            <a:br>
              <a:rPr lang="en-IN" dirty="0"/>
            </a:br>
            <a:r>
              <a:rPr lang="en-IN" sz="1600" i="1" dirty="0"/>
              <a:t>(Mean + Variance)</a:t>
            </a:r>
            <a:br>
              <a:rPr lang="en-IN" dirty="0"/>
            </a:br>
            <a:r>
              <a:rPr lang="en-IN" dirty="0"/>
              <a:t>             ↓</a:t>
            </a:r>
            <a:br>
              <a:rPr lang="en-IN" dirty="0"/>
            </a:br>
            <a:r>
              <a:rPr lang="en-IN" sz="2000" b="1" dirty="0"/>
              <a:t>Graph Construction</a:t>
            </a:r>
            <a:br>
              <a:rPr lang="en-IN" dirty="0"/>
            </a:br>
            <a:r>
              <a:rPr lang="en-IN" sz="1600" i="1" dirty="0"/>
              <a:t>(Nodes: Genes | Edges: Co-expression, PP)</a:t>
            </a:r>
            <a:br>
              <a:rPr lang="en-IN" dirty="0"/>
            </a:br>
            <a:r>
              <a:rPr lang="en-IN" dirty="0"/>
              <a:t>             ↓</a:t>
            </a:r>
            <a:endParaRPr lang="en-IN" sz="16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3D5E8-F081-19C4-268C-2065F1F8BA55}"/>
              </a:ext>
            </a:extLst>
          </p:cNvPr>
          <p:cNvSpPr txBox="1"/>
          <p:nvPr/>
        </p:nvSpPr>
        <p:spPr>
          <a:xfrm>
            <a:off x="7138220" y="1655320"/>
            <a:ext cx="40410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GCNN Training</a:t>
            </a:r>
            <a:br>
              <a:rPr lang="en-IN" dirty="0"/>
            </a:br>
            <a:r>
              <a:rPr lang="en-IN" sz="1600" i="1" dirty="0"/>
              <a:t>(Features + Network)</a:t>
            </a:r>
            <a:br>
              <a:rPr lang="en-IN" dirty="0"/>
            </a:br>
            <a:r>
              <a:rPr lang="en-IN" dirty="0"/>
              <a:t>              ↓</a:t>
            </a:r>
            <a:br>
              <a:rPr lang="en-IN" dirty="0"/>
            </a:br>
            <a:r>
              <a:rPr lang="en-IN" sz="2000" b="1" dirty="0"/>
              <a:t>Validation</a:t>
            </a:r>
            <a:br>
              <a:rPr lang="en-IN" dirty="0"/>
            </a:br>
            <a:r>
              <a:rPr lang="en-IN" sz="1600" i="1" dirty="0"/>
              <a:t>(Train → Test on another dataset)</a:t>
            </a:r>
            <a:br>
              <a:rPr lang="en-IN" dirty="0"/>
            </a:br>
            <a:r>
              <a:rPr lang="en-IN" dirty="0"/>
              <a:t>              ↓  </a:t>
            </a:r>
            <a:br>
              <a:rPr lang="en-IN" dirty="0"/>
            </a:br>
            <a:r>
              <a:rPr lang="en-IN" sz="2000" b="1" dirty="0"/>
              <a:t>Hub Genes</a:t>
            </a:r>
            <a:br>
              <a:rPr lang="en-IN" dirty="0"/>
            </a:br>
            <a:r>
              <a:rPr lang="en-IN" sz="1600" i="1" dirty="0"/>
              <a:t>(Top-ranked genes)</a:t>
            </a:r>
            <a:br>
              <a:rPr lang="en-IN" dirty="0"/>
            </a:br>
            <a:r>
              <a:rPr lang="en-IN" dirty="0"/>
              <a:t>           ↓</a:t>
            </a:r>
            <a:br>
              <a:rPr lang="en-IN" dirty="0"/>
            </a:br>
            <a:r>
              <a:rPr lang="en-IN" sz="2000" b="1" dirty="0"/>
              <a:t>Final Output</a:t>
            </a:r>
            <a:br>
              <a:rPr lang="en-IN" dirty="0"/>
            </a:br>
            <a:r>
              <a:rPr lang="en-IN" sz="1600" i="1" dirty="0"/>
              <a:t>Alzheimer's disease genes identified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5467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6C452C-BD83-54F3-65EC-7B270C1C8FBD}"/>
              </a:ext>
            </a:extLst>
          </p:cNvPr>
          <p:cNvSpPr txBox="1"/>
          <p:nvPr/>
        </p:nvSpPr>
        <p:spPr>
          <a:xfrm>
            <a:off x="4350774" y="555865"/>
            <a:ext cx="34904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70AC4-BAAC-0806-5967-8F772439E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418" y="1307690"/>
            <a:ext cx="9210040" cy="49944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73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AC8C5A-4DC4-0777-F650-24395D9D20A4}"/>
              </a:ext>
            </a:extLst>
          </p:cNvPr>
          <p:cNvSpPr txBox="1"/>
          <p:nvPr/>
        </p:nvSpPr>
        <p:spPr>
          <a:xfrm>
            <a:off x="3647767" y="284824"/>
            <a:ext cx="4444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MODEL DETAILS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5294EA7-78E6-1C49-6203-6F28B33CC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67" y="751262"/>
            <a:ext cx="7167717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Convolutional Neural Network (GCNN)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GSE48350 &amp; GSE11882 + PPI network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Graph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Nodes (genes), Edges (co-expression + PPI)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Expression (disease vs control)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Variance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Semi-supervised (known AD genes as seeds)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Optimizer: Adam | Loss: Binary Cross-Entropy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Cross-dataset (train on one, test on another)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 importance scores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hub genes (Top 20 selected after GCNN)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64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92E1BA-8BC2-11D6-780C-A92694EE9674}"/>
              </a:ext>
            </a:extLst>
          </p:cNvPr>
          <p:cNvSpPr txBox="1"/>
          <p:nvPr/>
        </p:nvSpPr>
        <p:spPr>
          <a:xfrm>
            <a:off x="2915264" y="274614"/>
            <a:ext cx="63614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FB638-2963-B9A6-0F64-467C1F42269F}"/>
              </a:ext>
            </a:extLst>
          </p:cNvPr>
          <p:cNvSpPr txBox="1"/>
          <p:nvPr/>
        </p:nvSpPr>
        <p:spPr>
          <a:xfrm>
            <a:off x="1140542" y="1104714"/>
            <a:ext cx="959628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Datasets obtained from National </a:t>
            </a:r>
            <a:r>
              <a:rPr lang="en-IN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Biotechnology Information (NCBI)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Website: </a:t>
            </a:r>
            <a:r>
              <a:rPr lang="en-IN" sz="2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https://www.ncbi.nlm.nih.gov</a:t>
            </a:r>
            <a:endParaRPr lang="en-IN" sz="20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Accessed through Gene Expression Omnibus (GEO)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Website: </a:t>
            </a:r>
            <a:r>
              <a:rPr lang="en-IN" sz="2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https://www.ncbi.nlm.nih.gov/geo/</a:t>
            </a:r>
            <a:endParaRPr lang="en-IN" sz="20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 datasets: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GSE48350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GSE11882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Microarray-based gene expression data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Includes Alzheimer’s disease and control samples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Expression matrices downloaded for preprocessing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0A97297-2880-E633-EA92-A5F25B64D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723C5A-183C-CB0B-2960-58377E90F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720" y="1523999"/>
            <a:ext cx="3518039" cy="17141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C7BC3F-3267-29AE-6907-D453B8C9A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63"/>
          <a:stretch>
            <a:fillRect/>
          </a:stretch>
        </p:blipFill>
        <p:spPr>
          <a:xfrm>
            <a:off x="8383272" y="3657415"/>
            <a:ext cx="3158487" cy="10829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42A196-5A1F-234F-CE46-0906E14F4F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61"/>
          <a:stretch>
            <a:fillRect/>
          </a:stretch>
        </p:blipFill>
        <p:spPr>
          <a:xfrm>
            <a:off x="8370569" y="5023762"/>
            <a:ext cx="3171190" cy="12117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0765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C22D1-C375-6047-3659-18520BE7DA9C}"/>
              </a:ext>
            </a:extLst>
          </p:cNvPr>
          <p:cNvSpPr txBox="1"/>
          <p:nvPr/>
        </p:nvSpPr>
        <p:spPr>
          <a:xfrm>
            <a:off x="2959510" y="34411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73BD21-0E30-7AB3-FDEC-4AA264BB0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09" y="1140195"/>
            <a:ext cx="9045678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GSE48350 &amp; GSE11882 (GEO)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missing values &amp; duplicates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Probe Mapping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Probe IDs → gene symbols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Min–Max scaling (0–1)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Analysis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limma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t-test, and ANOVA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Computed p-values for each gene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significant genes (p &lt; 0.05)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non-significant genes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Integration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analysis on both datasets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Intersected significant genes </a:t>
            </a:r>
          </a:p>
          <a:p>
            <a:pPr marL="342900" marR="0" lvl="0" indent="-3429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Obtained common gene set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Extraction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 expression &amp; variance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Construction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Nodes = genes, Edges = co-expression / PPI </a:t>
            </a:r>
          </a:p>
        </p:txBody>
      </p:sp>
    </p:spTree>
    <p:extLst>
      <p:ext uri="{BB962C8B-B14F-4D97-AF65-F5344CB8AC3E}">
        <p14:creationId xmlns:p14="http://schemas.microsoft.com/office/powerpoint/2010/main" val="4011251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249CD8-13E3-C980-D5ED-ACA35D292D09}"/>
              </a:ext>
            </a:extLst>
          </p:cNvPr>
          <p:cNvSpPr txBox="1"/>
          <p:nvPr/>
        </p:nvSpPr>
        <p:spPr>
          <a:xfrm>
            <a:off x="3220064" y="341553"/>
            <a:ext cx="62828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F7BAB08-5B85-83B9-DDA8-185BED0B8D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761296"/>
              </p:ext>
            </p:extLst>
          </p:nvPr>
        </p:nvGraphicFramePr>
        <p:xfrm>
          <a:off x="5481638" y="3241675"/>
          <a:ext cx="122713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6997" imgH="373301" progId="Excel.Sheet.12">
                  <p:embed/>
                </p:oleObj>
              </mc:Choice>
              <mc:Fallback>
                <p:oleObj name="Worksheet" r:id="rId2" imgW="1226997" imgH="37330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81638" y="3241675"/>
                        <a:ext cx="1227137" cy="37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9D0D16-F0E6-C30D-ACF3-46655E24A8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827940"/>
              </p:ext>
            </p:extLst>
          </p:nvPr>
        </p:nvGraphicFramePr>
        <p:xfrm>
          <a:off x="584224" y="1237464"/>
          <a:ext cx="11021963" cy="3265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431">
                  <a:extLst>
                    <a:ext uri="{9D8B030D-6E8A-4147-A177-3AD203B41FA5}">
                      <a16:colId xmlns:a16="http://schemas.microsoft.com/office/drawing/2014/main" val="1991821950"/>
                    </a:ext>
                  </a:extLst>
                </a:gridCol>
                <a:gridCol w="1115238">
                  <a:extLst>
                    <a:ext uri="{9D8B030D-6E8A-4147-A177-3AD203B41FA5}">
                      <a16:colId xmlns:a16="http://schemas.microsoft.com/office/drawing/2014/main" val="715742551"/>
                    </a:ext>
                  </a:extLst>
                </a:gridCol>
                <a:gridCol w="847203">
                  <a:extLst>
                    <a:ext uri="{9D8B030D-6E8A-4147-A177-3AD203B41FA5}">
                      <a16:colId xmlns:a16="http://schemas.microsoft.com/office/drawing/2014/main" val="691518968"/>
                    </a:ext>
                  </a:extLst>
                </a:gridCol>
                <a:gridCol w="1142338">
                  <a:extLst>
                    <a:ext uri="{9D8B030D-6E8A-4147-A177-3AD203B41FA5}">
                      <a16:colId xmlns:a16="http://schemas.microsoft.com/office/drawing/2014/main" val="1679892226"/>
                    </a:ext>
                  </a:extLst>
                </a:gridCol>
                <a:gridCol w="1141269">
                  <a:extLst>
                    <a:ext uri="{9D8B030D-6E8A-4147-A177-3AD203B41FA5}">
                      <a16:colId xmlns:a16="http://schemas.microsoft.com/office/drawing/2014/main" val="3831008382"/>
                    </a:ext>
                  </a:extLst>
                </a:gridCol>
                <a:gridCol w="1187314">
                  <a:extLst>
                    <a:ext uri="{9D8B030D-6E8A-4147-A177-3AD203B41FA5}">
                      <a16:colId xmlns:a16="http://schemas.microsoft.com/office/drawing/2014/main" val="3199547659"/>
                    </a:ext>
                  </a:extLst>
                </a:gridCol>
                <a:gridCol w="1259160">
                  <a:extLst>
                    <a:ext uri="{9D8B030D-6E8A-4147-A177-3AD203B41FA5}">
                      <a16:colId xmlns:a16="http://schemas.microsoft.com/office/drawing/2014/main" val="3531723227"/>
                    </a:ext>
                  </a:extLst>
                </a:gridCol>
                <a:gridCol w="902285">
                  <a:extLst>
                    <a:ext uri="{9D8B030D-6E8A-4147-A177-3AD203B41FA5}">
                      <a16:colId xmlns:a16="http://schemas.microsoft.com/office/drawing/2014/main" val="1174172968"/>
                    </a:ext>
                  </a:extLst>
                </a:gridCol>
                <a:gridCol w="1272137">
                  <a:extLst>
                    <a:ext uri="{9D8B030D-6E8A-4147-A177-3AD203B41FA5}">
                      <a16:colId xmlns:a16="http://schemas.microsoft.com/office/drawing/2014/main" val="733473119"/>
                    </a:ext>
                  </a:extLst>
                </a:gridCol>
                <a:gridCol w="1223588">
                  <a:extLst>
                    <a:ext uri="{9D8B030D-6E8A-4147-A177-3AD203B41FA5}">
                      <a16:colId xmlns:a16="http://schemas.microsoft.com/office/drawing/2014/main" val="3794063849"/>
                    </a:ext>
                  </a:extLst>
                </a:gridCol>
              </a:tblGrid>
              <a:tr h="4831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F1-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dirty="0"/>
                        <a:t>Specificity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018791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0.3555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0.8959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0.9597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680291"/>
                  </a:ext>
                </a:extLst>
              </a:tr>
              <a:tr h="4129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0.1865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0.8874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50463"/>
                  </a:ext>
                </a:extLst>
              </a:tr>
              <a:tr h="49161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0.2442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0.9211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0.8927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0.9235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779520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0.2004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0.8939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0.9466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0.8877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70404"/>
                  </a:ext>
                </a:extLst>
              </a:tr>
              <a:tr h="481781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0.1902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0.9781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0.8836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0.9654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0.9654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0.8729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739838"/>
                  </a:ext>
                </a:extLst>
              </a:tr>
              <a:tr h="452488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0.2604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0.9804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0.9799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0.9184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0.9174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0.9289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0.9062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0.9062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0.9306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868969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BA5A418D-650C-7518-C505-ECE61F289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24" y="4961435"/>
            <a:ext cx="914051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 (~90–92%) with strong AUC/PR-AUC (~0.97–0.98) indicates robust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Precision, Recall, and F1 Score ensure reliable classification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performance observed around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Epoch 200–250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571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4DAEA6-F6EE-D436-32B5-5EA35CD96C7D}"/>
              </a:ext>
            </a:extLst>
          </p:cNvPr>
          <p:cNvSpPr txBox="1"/>
          <p:nvPr/>
        </p:nvSpPr>
        <p:spPr>
          <a:xfrm>
            <a:off x="2812025" y="210553"/>
            <a:ext cx="70300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B75A76-E467-B6D4-FADE-581163D35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7517" y="1001934"/>
            <a:ext cx="3918625" cy="2055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058E65-5EB9-2881-04CA-912243316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915" y="1001934"/>
            <a:ext cx="4071005" cy="2135844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DB455FF1-625E-E934-E8E0-8838D412E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180" y="3291667"/>
            <a:ext cx="9237722" cy="3234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collected and preprocessed (i.e., normalization, cleaning)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DEGs identified and used for feature selection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Dataset prepared: 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326 × 256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193 × 174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Box plot used to compare statistical methods (LIMMA, t-test, ANOVA) and analyze variation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found well-scaled and suitable for advanced modeling (i.e., GCNN)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3153CE-9731-881C-0C1D-574B931EE71F}"/>
              </a:ext>
            </a:extLst>
          </p:cNvPr>
          <p:cNvSpPr txBox="1"/>
          <p:nvPr/>
        </p:nvSpPr>
        <p:spPr>
          <a:xfrm>
            <a:off x="1607517" y="3137778"/>
            <a:ext cx="480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Boxplot of Statistical Test Results (Train Dataset)</a:t>
            </a:r>
            <a:endParaRPr lang="en-IN" sz="1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4703B9-689E-5354-D390-F55A541AFE34}"/>
              </a:ext>
            </a:extLst>
          </p:cNvPr>
          <p:cNvSpPr txBox="1"/>
          <p:nvPr/>
        </p:nvSpPr>
        <p:spPr>
          <a:xfrm>
            <a:off x="6951349" y="3137778"/>
            <a:ext cx="480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Boxplot of Statistical Test Results (Test Dataset)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3666745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1F895B-4A89-981D-6DB9-97880EC06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726" y="3429000"/>
            <a:ext cx="4297861" cy="31327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D4AC39-632D-7B31-2A57-88A8163ED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765" y="1115258"/>
            <a:ext cx="3850977" cy="211692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436F549-3FCD-CE6F-1E96-97242BE6B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007" y="789559"/>
            <a:ext cx="5614219" cy="263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2000" b="1" dirty="0"/>
              <a:t>Loss vs AUC-ROC Plot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Loss decreases initially, indicating effective learning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Minor fluctuations suggest stable training process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AUC-ROC remains consistently high (~0.97–0.98)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High AUC indicates strong classification performance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Model shows good convergence and reliability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9FC59-C40C-E8BA-7C5F-0DAE4FACCAE7}"/>
              </a:ext>
            </a:extLst>
          </p:cNvPr>
          <p:cNvSpPr txBox="1"/>
          <p:nvPr/>
        </p:nvSpPr>
        <p:spPr>
          <a:xfrm>
            <a:off x="5649117" y="4107335"/>
            <a:ext cx="6096000" cy="2208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Clustered Heatmap of Gene Interactions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Displays interaction strength between top genes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Clustering groups genes with similar interaction patterns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Higher values (red) indicate strong gene associations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Lower values (blue) indicate weak interactions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Helps identify potential hub genes and functional modules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B69C9-BDF6-8035-B8CF-8C19EB76964A}"/>
              </a:ext>
            </a:extLst>
          </p:cNvPr>
          <p:cNvSpPr txBox="1"/>
          <p:nvPr/>
        </p:nvSpPr>
        <p:spPr>
          <a:xfrm>
            <a:off x="2580968" y="368984"/>
            <a:ext cx="70300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1805043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59A3C7-52FF-C86C-2CE3-F9C6B7107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21" y="1084621"/>
            <a:ext cx="4817808" cy="2446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33AEEC-D28D-6BBB-59DA-5DF176132423}"/>
              </a:ext>
            </a:extLst>
          </p:cNvPr>
          <p:cNvSpPr txBox="1"/>
          <p:nvPr/>
        </p:nvSpPr>
        <p:spPr>
          <a:xfrm>
            <a:off x="5624053" y="1084621"/>
            <a:ext cx="6386050" cy="2362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Gene–Gene Interaction Network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Visualizes interactions between selected genes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Nodes represent genes; edges represent interactions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Highly connected nodes indicate potential </a:t>
            </a:r>
            <a:r>
              <a:rPr lang="en-IN" sz="1600" b="1" dirty="0"/>
              <a:t>hub genes</a:t>
            </a:r>
            <a:r>
              <a:rPr lang="en-IN" sz="16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Dense clusters show strong functional relationships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Useful for understanding complex biological pathways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7F8C44-F49E-1D0A-C166-0C37EC3AF483}"/>
              </a:ext>
            </a:extLst>
          </p:cNvPr>
          <p:cNvSpPr txBox="1"/>
          <p:nvPr/>
        </p:nvSpPr>
        <p:spPr>
          <a:xfrm>
            <a:off x="2802193" y="376735"/>
            <a:ext cx="70300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5BAA28-AA66-29D3-F62F-29E2CCF17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4" y="3655038"/>
            <a:ext cx="5348748" cy="29877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6A7C4C-C251-53FE-1FBF-A67F29FE0FFD}"/>
              </a:ext>
            </a:extLst>
          </p:cNvPr>
          <p:cNvSpPr txBox="1"/>
          <p:nvPr/>
        </p:nvSpPr>
        <p:spPr>
          <a:xfrm>
            <a:off x="6096000" y="4154949"/>
            <a:ext cx="6096000" cy="217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Functional Enrichment Analysis (Bubble Plot)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Shows enriched biological pathways of selected genes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Bubble size represents number of genes involved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err="1"/>
              <a:t>Color</a:t>
            </a:r>
            <a:r>
              <a:rPr lang="en-IN" sz="1600" dirty="0"/>
              <a:t> scale (FDR) indicates statistical significance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Larger and lighter bubbles = highly significant pathways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Helps identify key biological processes linked to disease</a:t>
            </a:r>
          </a:p>
        </p:txBody>
      </p:sp>
    </p:spTree>
    <p:extLst>
      <p:ext uri="{BB962C8B-B14F-4D97-AF65-F5344CB8AC3E}">
        <p14:creationId xmlns:p14="http://schemas.microsoft.com/office/powerpoint/2010/main" val="100990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2E0915-E73E-42BD-1657-9E3023748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5096" y="393526"/>
            <a:ext cx="366158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E7E8A36-FE38-FD92-1CF3-DCCD6E05D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454" y="3355760"/>
            <a:ext cx="11308080" cy="765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594058-B905-C6EC-5305-5F1528069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994" y="829858"/>
            <a:ext cx="10550012" cy="5198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GCNN framework successfully identified robust and biologically meaningful Alzheimer’s disease hub genes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demonstrated strong generalization across multiple datasets without retraining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Attribution analysis improved interpretability by highlighting gene contributions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hub genes are significantly enriched in key AD-related pathways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support biological relevance of synaptic, inflammatory, and mitochondrial processes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Findings highlight potential targets for future therapeutic research </a:t>
            </a:r>
          </a:p>
        </p:txBody>
      </p:sp>
    </p:spTree>
    <p:extLst>
      <p:ext uri="{BB962C8B-B14F-4D97-AF65-F5344CB8AC3E}">
        <p14:creationId xmlns:p14="http://schemas.microsoft.com/office/powerpoint/2010/main" val="28233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D5A408-4919-F0FC-A517-51273A10B384}"/>
              </a:ext>
            </a:extLst>
          </p:cNvPr>
          <p:cNvSpPr txBox="1"/>
          <p:nvPr/>
        </p:nvSpPr>
        <p:spPr>
          <a:xfrm>
            <a:off x="602444" y="1303348"/>
            <a:ext cx="11124763" cy="4973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[1]Al-Shoukry, S.,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Rassem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T. H., &amp;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Makbol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N. M. (2020). Alzheimer’s diseases detection by using deep learning algorithms: a mini-review. IEEE Access, 8, 77131–77141.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https://doi.org/10.1109/ACCESS.2020.298939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[2] Arya, A. D., Singh Verma, S., Chakrabarti, P., Chakrabarti, T.,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Elngar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A. A., Nami, M., et al. (2023). A systematic review on machine learning and deep learning techniques in the effective diagnosis of Alzheimer’s disease. Brain Informatics, 10(17).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https://doi.org/10.21203/RS.3.RS-2028945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[3] El-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Gawady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A., Makhlouf, M. A., Tawfik, B. S., &amp; Nassar, H. (2022). Machine Learning Framework for the Prediction of Alzheimer’s Disease Using Gene Expression Data Based on Efficient Gene Selection. Symmetry, 14(3), 491.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https://doi.org/10.3390/sym14030491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[4] Mahendran, N., Vincent, P. M. D. R., Srinivasan, K., &amp; Chang, C.-Y. (2021). Improving the Classification of Alzheimer’s Disease Using Hybrid Gene Selection Pipeline and Deep Learning. Frontiers in Genetics, 12, 784814.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https://doi.org/10.3389/fgene.2021.784814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[5] Ray, S., et al. (2017). A comprehensive analysis on preservation patterns of gene co-expression networks during Alzheimer’s disease progression. BMC Bioinformatics, 18, 579.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https://doi.org/10.1186/s12859-017-1946-8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[6]Sims, J. R., et al. (2023). Donanemab in early symptomatic Alzheimer disease: The TRAILBLAZER-ALZ 2 randomized clinical trial. JAMA.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1F540-3E8C-C260-0EEF-55DFCD602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4760" y="371491"/>
            <a:ext cx="36295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610452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23763B-2607-D045-45A2-A65C5DD91568}"/>
              </a:ext>
            </a:extLst>
          </p:cNvPr>
          <p:cNvSpPr txBox="1"/>
          <p:nvPr/>
        </p:nvSpPr>
        <p:spPr>
          <a:xfrm>
            <a:off x="521109" y="512741"/>
            <a:ext cx="1067783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Shiyu Deng,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Jingli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Wu,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Gaoshi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Jiafei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Liu, and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Yumeng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Zhao.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Icdm-gehc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identifying cancer driver module based on graph embedding and hierarchical clustering. Complex &amp; Intelligent Systems, 10(3):3411–3427, 2024.</a:t>
            </a:r>
          </a:p>
          <a:p>
            <a:pPr indent="0" algn="just">
              <a:buNone/>
            </a:pPr>
            <a:endParaRPr lang="en-US" dirty="0"/>
          </a:p>
          <a:p>
            <a:pPr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Glynn Dennis, Brad T Sherman, Douglas A Hosack, Jun Yang, Wei Gao, H Clifford Lane, and Richard A Lempicki. David: database for annotation, visualization, and integrated discovery. Genome biology, 4:1–11, 2003.</a:t>
            </a:r>
          </a:p>
          <a:p>
            <a:pPr indent="0" algn="just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Scott Emmons, Stephen Kobourov, Mike Gallant, and Katy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B¨orner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Analysis of network clustering algorithms and cluster quality metrics at scale.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one, 11(7):e0159161, 2016.</a:t>
            </a:r>
          </a:p>
          <a:p>
            <a:pPr indent="0" algn="just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Matthias Fuchs and Wolfram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H¨opken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Clustering: Hierarchical, k-means,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Applied Data Science in Tourism: Interdisciplinary Approaches, Methodologies, and Applications, pages 129–149. Springer, 2022.</a:t>
            </a:r>
          </a:p>
          <a:p>
            <a:pPr indent="0" algn="just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Yi-Jun Ge, Shi-Dong Chen, Bang-Sheng Wu, Ya-Ru Zhang, Jun Wang, Xiao-Yu He,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WeiShi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Liu, Yi-Lin Chen, Ya-Nan Ou, Xue-Ning Shen, et al. Genome-wide meta-analysis identifies ancestry-specific loci for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disease. Alzheimer’s &amp; Dementia, 20(9): 6243–6256, 2024.</a:t>
            </a:r>
          </a:p>
          <a:p>
            <a:pPr indent="0" algn="just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 Zachary F Gerring, Michelle K Lupton, Daniel Edey, Eric R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Gamazon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Eske M Derks. An analysis of genetically regulated gene expression across multiple tissues implicates novel gene candidates in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disease. Alzheimer’s research &amp; therapy, 12:1–10, 2020.</a:t>
            </a:r>
          </a:p>
        </p:txBody>
      </p:sp>
    </p:spTree>
    <p:extLst>
      <p:ext uri="{BB962C8B-B14F-4D97-AF65-F5344CB8AC3E}">
        <p14:creationId xmlns:p14="http://schemas.microsoft.com/office/powerpoint/2010/main" val="1487038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CB2E69-364B-E7E8-8377-2A8B752A79DA}"/>
              </a:ext>
            </a:extLst>
          </p:cNvPr>
          <p:cNvSpPr txBox="1"/>
          <p:nvPr/>
        </p:nvSpPr>
        <p:spPr>
          <a:xfrm>
            <a:off x="2438400" y="2360414"/>
            <a:ext cx="7985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9600" b="1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68702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1_Basis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618</TotalTime>
  <Words>2130</Words>
  <Application>Microsoft Office PowerPoint</Application>
  <PresentationFormat>Widescreen</PresentationFormat>
  <Paragraphs>267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Rounded MT Bold</vt:lpstr>
      <vt:lpstr>Corbel</vt:lpstr>
      <vt:lpstr>Times New Roman</vt:lpstr>
      <vt:lpstr>Basis</vt:lpstr>
      <vt:lpstr>1_Basis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FALGUNI YADAV</dc:creator>
  <cp:lastModifiedBy>FALGUNI YADAV</cp:lastModifiedBy>
  <cp:revision>13</cp:revision>
  <dcterms:created xsi:type="dcterms:W3CDTF">2026-04-06T16:43:39Z</dcterms:created>
  <dcterms:modified xsi:type="dcterms:W3CDTF">2026-04-10T14:29:41Z</dcterms:modified>
</cp:coreProperties>
</file>